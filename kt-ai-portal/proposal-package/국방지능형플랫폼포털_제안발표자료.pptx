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"국방지능형플랫폼포털 구축을 제안합니다."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"하나의 포털에서 데이터·모델·프로젝트·도구·크레딧을 통합 관리합니다."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"국방 AI 환경의 주요 과제를 제시하고 해결 방향을 설명합니다."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"5가지 핵심 가치를 중심으로 시스템을 설계했습니다."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"Backstage를 중심으로 주요 오픈소스를 연계합니다."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"로그인 후 첫 화면에서 주요 지표와 Quick Links를 확인합니다."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"OpenSearch 기반으로 보안등급·유형·태그 필터로 검색합니다."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"데이터 계보와 용어집 관리로 거버넌스를 강화합니다."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"프로젝트 등록부터 멤버·자원·크레딧까지 관리합니다."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"신청·보안검토·승인·이력 관리를 지원합니다."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"GPU/CPU/스토리지 사용량과 크레딧을 시각화합니다."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"통제항목별 증빙 상태와 조치 이력을 추적합니다."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"관리자가 사용자, 권한, 정책, 감사로그를 한 곳에서 관리합니다."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"필요한 도구를 카탈로그에서 검색하고 요청할 수 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"연구자들의 아이디어를 제안·공감·승인하는 협업 공간입니다."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"사용자 개인 화면과 운영 설정을 분리하여 관리합니다."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"육해공군별 테넌트 개요·쿼터·사용량을 통합 관리합니다."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"통합 인증과 세밀한 권한 제어, 감사로그로 보안을 확보합니다."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"PoC 성과를 바탕으로 순차적으로 실 운영을 완성합니다."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"기능별 M/M와 역할별 투입 계획을 제시합니다."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"4대 기대효과를 달성할 수 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"실제 연동 및 운영 고도화를 위한 계획을 제시합니다."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"질문에 답변드리겠습니다."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SFR-001~SFR-021은 RFP 상위 요구사항으로, 제안서와 추적표에서 기능목록 1~155 및 12개 주요 화면과 매핑되었음을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pleGothic"/>
              </a:defRPr>
            </a:pPr>
            <a:r>
              <a:t>1. 표지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ppleGothic"/>
              </a:defRPr>
            </a:pPr>
            <a:r>
              <a:t>국방지능형플랫폼포털 제안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pleGothic"/>
              </a:defRPr>
            </a:pPr>
            <a:r>
              <a:t>2. 제안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ppleGothic"/>
              </a:defRPr>
            </a:pPr>
            <a:r>
              <a:t>통합 포털 기반의 데이터·AI·클리우드 접근 체계 제공</a:t>
            </a:r>
          </a:p>
        </p:txBody>
      </p:sp>
      <p:pic>
        <p:nvPicPr>
          <p:cNvPr id="4" name="Picture 3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51760"/>
            <a:ext cx="6858000" cy="9544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pleGothic"/>
              </a:defRPr>
            </a:pPr>
            <a:r>
              <a:t>3. 사업 이해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ppleGothic"/>
              </a:defRPr>
            </a:pPr>
            <a:r>
              <a:t>자산 파편화, 자원 관리, 보안/감사, 군별 운영의 과제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pleGothic"/>
              </a:defRPr>
            </a:pPr>
            <a:r>
              <a:t>4. 목표 시스템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ppleGothic"/>
              </a:defRPr>
            </a:pPr>
            <a:r>
              <a:t>통합성·검색성·보안성·확장성·투명성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pleGothic"/>
              </a:defRPr>
            </a:pPr>
            <a:r>
              <a:t>5. 전체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ppleGothic"/>
              </a:defRPr>
            </a:pPr>
            <a:r>
              <a:t>Backstage + Keycloak + OpenSearch + OpenMetadata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pleGothic"/>
              </a:defRPr>
            </a:pPr>
            <a:r>
              <a:t>6. 통합 대시보드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ppleGothic"/>
              </a:defRPr>
            </a:pPr>
            <a:r>
              <a:t>플랫폼 전체 현황 한 눈에 파악</a:t>
            </a:r>
          </a:p>
        </p:txBody>
      </p:sp>
      <p:pic>
        <p:nvPicPr>
          <p:cNvPr id="4" name="Picture 3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51760"/>
            <a:ext cx="6858000" cy="9544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pleGothic"/>
              </a:defRPr>
            </a:pPr>
            <a:r>
              <a:t>7. 통합검색/카탈로그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ppleGothic"/>
              </a:defRPr>
            </a:pPr>
            <a:r>
              <a:t>데이터·모델·이미지·패키지·문서 통합 검색</a:t>
            </a:r>
          </a:p>
        </p:txBody>
      </p:sp>
      <p:pic>
        <p:nvPicPr>
          <p:cNvPr id="4" name="Picture 3" descr="02-integrated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51760"/>
            <a:ext cx="6858000" cy="49327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pleGothic"/>
              </a:defRPr>
            </a:pPr>
            <a:r>
              <a:t>8. 데이터 거버넌스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ppleGothic"/>
              </a:defRPr>
            </a:pPr>
            <a:r>
              <a:t>OpenMetadata를 활용한 메타데이터·계보 관리</a:t>
            </a:r>
          </a:p>
        </p:txBody>
      </p:sp>
      <p:pic>
        <p:nvPicPr>
          <p:cNvPr id="4" name="Picture 3" descr="15-openmetadata-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51760"/>
            <a:ext cx="6858000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pleGothic"/>
              </a:defRPr>
            </a:pPr>
            <a:r>
              <a:t>9. 프로젝트/워크스페이스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ppleGothic"/>
              </a:defRPr>
            </a:pPr>
            <a:r>
              <a:t>AI 프로젝트 생애주기 관리</a:t>
            </a:r>
          </a:p>
        </p:txBody>
      </p:sp>
      <p:pic>
        <p:nvPicPr>
          <p:cNvPr id="4" name="Picture 3" descr="03-project-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51760"/>
            <a:ext cx="6858000" cy="69901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pleGothic"/>
              </a:defRPr>
            </a:pPr>
            <a:r>
              <a:t>10. 반입·반출 승인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ppleGothic"/>
              </a:defRPr>
            </a:pPr>
            <a:r>
              <a:t>보안 검토 기반 데이터 반입/반출 workflow</a:t>
            </a:r>
          </a:p>
        </p:txBody>
      </p:sp>
      <p:pic>
        <p:nvPicPr>
          <p:cNvPr id="4" name="Picture 3" descr="04-export-appro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51760"/>
            <a:ext cx="6858000" cy="64472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pleGothic"/>
              </a:defRPr>
            </a:pPr>
            <a:r>
              <a:t>11. 크레딧/자원 사용량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ppleGothic"/>
              </a:defRPr>
            </a:pPr>
            <a:r>
              <a:t>프로젝트별 크레딧 및 사용량 모니터링</a:t>
            </a:r>
          </a:p>
        </p:txBody>
      </p:sp>
      <p:pic>
        <p:nvPicPr>
          <p:cNvPr id="4" name="Picture 3" descr="05-credit-man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51760"/>
            <a:ext cx="6858000" cy="99833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pleGothic"/>
              </a:defRPr>
            </a:pPr>
            <a:r>
              <a:t>12. K-RMF 증빙관리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ppleGothic"/>
              </a:defRPr>
            </a:pPr>
            <a:r>
              <a:t>K-RMF 평가 항목별 증빙 자료 관리</a:t>
            </a:r>
          </a:p>
        </p:txBody>
      </p:sp>
      <p:pic>
        <p:nvPicPr>
          <p:cNvPr id="4" name="Picture 3" descr="06-krmf-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51760"/>
            <a:ext cx="6858000" cy="38576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pleGothic"/>
              </a:defRPr>
            </a:pPr>
            <a:r>
              <a:t>13. 관리자 콘솔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ppleGothic"/>
              </a:defRPr>
            </a:pPr>
            <a:r>
              <a:t>사용자·권한·정책·감사 중앙 관리</a:t>
            </a:r>
          </a:p>
        </p:txBody>
      </p:sp>
      <p:pic>
        <p:nvPicPr>
          <p:cNvPr id="4" name="Picture 3" descr="07-admin-console-user-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51760"/>
            <a:ext cx="6858000" cy="441126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pleGothic"/>
              </a:defRPr>
            </a:pPr>
            <a:r>
              <a:t>14. 서비스/도구 카탈로그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ppleGothic"/>
              </a:defRPr>
            </a:pPr>
            <a:r>
              <a:t>AI 개발 도구 검색·선택·요청</a:t>
            </a:r>
          </a:p>
        </p:txBody>
      </p:sp>
      <p:pic>
        <p:nvPicPr>
          <p:cNvPr id="4" name="Picture 3" descr="10-service-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51760"/>
            <a:ext cx="6858000" cy="573643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pleGothic"/>
              </a:defRPr>
            </a:pPr>
            <a:r>
              <a:t>15. 제안 게시판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ppleGothic"/>
              </a:defRPr>
            </a:pPr>
            <a:r>
              <a:t>현장 수요 기반 아이디어 제안 및 승인</a:t>
            </a:r>
          </a:p>
        </p:txBody>
      </p:sp>
      <p:pic>
        <p:nvPicPr>
          <p:cNvPr id="4" name="Picture 3" descr="11-proposal-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51760"/>
            <a:ext cx="6858000" cy="58328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pleGothic"/>
              </a:defRPr>
            </a:pPr>
            <a:r>
              <a:t>16. 마이페이지/환경설정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ppleGothic"/>
              </a:defRPr>
            </a:pPr>
            <a:r>
              <a:t>개인 정보 및 시스템 설정 관리</a:t>
            </a:r>
          </a:p>
        </p:txBody>
      </p:sp>
      <p:pic>
        <p:nvPicPr>
          <p:cNvPr id="4" name="Picture 3" descr="12-my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51760"/>
            <a:ext cx="6858000" cy="38576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pleGothic"/>
              </a:defRPr>
            </a:pPr>
            <a:r>
              <a:t>17. 육해공군 멀티테넌트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ppleGothic"/>
              </a:defRPr>
            </a:pPr>
            <a:r>
              <a:t>군별 자원 분리 및 권한 위임</a:t>
            </a:r>
          </a:p>
        </p:txBody>
      </p:sp>
      <p:pic>
        <p:nvPicPr>
          <p:cNvPr id="4" name="Picture 3" descr="14-tenant-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51760"/>
            <a:ext cx="6858000" cy="38576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pleGothic"/>
              </a:defRPr>
            </a:pPr>
            <a:r>
              <a:t>18. 보안 및 권한관리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ppleGothic"/>
              </a:defRPr>
            </a:pPr>
            <a:r>
              <a:t>Keycloak OIDC + RBAC + 감사로그</a:t>
            </a:r>
          </a:p>
        </p:txBody>
      </p:sp>
      <p:pic>
        <p:nvPicPr>
          <p:cNvPr id="4" name="Picture 3" descr="09-keycloak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51760"/>
            <a:ext cx="6858000" cy="266319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pleGothic"/>
              </a:defRPr>
            </a:pPr>
            <a:r>
              <a:t>19. 구축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ppleGothic"/>
              </a:defRPr>
            </a:pPr>
            <a:r>
              <a:t>5단계로 운영 구축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pleGothic"/>
              </a:defRPr>
            </a:pPr>
            <a:r>
              <a:t>20. 견적 및 인력 산정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ppleGothic"/>
              </a:defRPr>
            </a:pPr>
            <a:r>
              <a:t>기능별 M/M 및 투입 인력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pleGothic"/>
              </a:defRPr>
            </a:pPr>
            <a:r>
              <a:t>21. 기대효과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ppleGothic"/>
              </a:defRPr>
            </a:pPr>
            <a:r>
              <a:t>업무 효율·자산 가시화·보안·자원 운영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pleGothic"/>
              </a:defRPr>
            </a:pPr>
            <a:r>
              <a:t>22. 후속 개발 및 리스크 대응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ppleGothic"/>
              </a:defRPr>
            </a:pPr>
            <a:r>
              <a:t>PoC 한계와 보완 계획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pleGothic"/>
              </a:defRPr>
            </a:pPr>
            <a:r>
              <a:t>23. 맺음말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AppleGothic"/>
              </a:defRPr>
            </a:pPr>
            <a:r>
              <a:t>제안 마무리 및 질의응답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24. SFR-001~SFR-021 요구사항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SFR-001~SFR-021은 국방지능형플랫폼포털의 21개 상위 요구사항으로, 기능목록 1~155 및 주요 화면과 모두 매핑되었습니다.</a:t>
            </a:r>
          </a:p>
          <a:p>
            <a:pPr>
              <a:spcBef>
                <a:spcPts val="1200"/>
              </a:spcBef>
              <a:defRPr sz="1600"/>
            </a:pPr>
            <a:r>
              <a:t>주요 매핑: SFR-001(통합 대시보드 1~8), SFR-015(통합검색 5, 65~72), SFR-016(프로젝트 41, 80~89), SFR-017(크레딧 42, 110~118), SFR-021(육해공군 150~155)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